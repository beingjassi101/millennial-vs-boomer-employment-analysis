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Jobs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2007</c:v>
                  </c:pt>
                  <c:pt idx="1">
                    <c:v>2013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21357823</c:v>
                </c:pt>
                <c:pt idx="1">
                  <c:v>23303488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34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1F3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Jobs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403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2007</c:v>
                  </c:pt>
                  <c:pt idx="1">
                    <c:v>2013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40797493</c:v>
                </c:pt>
                <c:pt idx="1">
                  <c:v>40907412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0D282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221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Baby Boomers %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Healthcare Support</c:v>
                  </c:pt>
                  <c:pt idx="1">
                    <c:v>Food Prep &amp; Serving</c:v>
                  </c:pt>
                  <c:pt idx="2">
                    <c:v>Computer &amp; Math</c:v>
                  </c:pt>
                  <c:pt idx="3">
                    <c:v>Personal Care</c:v>
                  </c:pt>
                  <c:pt idx="4">
                    <c:v>Office &amp; Admin</c:v>
                  </c:pt>
                  <c:pt idx="5">
                    <c:v>Transportation</c:v>
                  </c:pt>
                  <c:pt idx="6">
                    <c:v>Production</c:v>
                  </c:pt>
                  <c:pt idx="7">
                    <c:v>Management</c:v>
                  </c:pt>
                  <c:pt idx="8">
                    <c:v>Construction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26.5</c:v>
                </c:pt>
                <c:pt idx="1">
                  <c:v>20</c:v>
                </c:pt>
                <c:pt idx="2">
                  <c:v>19.8</c:v>
                </c:pt>
                <c:pt idx="3">
                  <c:v>17.5</c:v>
                </c:pt>
                <c:pt idx="4">
                  <c:v>9.7</c:v>
                </c:pt>
                <c:pt idx="5">
                  <c:v>9.6</c:v>
                </c:pt>
                <c:pt idx="6">
                  <c:v>4.8</c:v>
                </c:pt>
                <c:pt idx="7">
                  <c:v>2.8</c:v>
                </c:pt>
                <c:pt idx="8">
                  <c:v>-3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Millennials %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Healthcare Support</c:v>
                  </c:pt>
                  <c:pt idx="1">
                    <c:v>Food Prep &amp; Serving</c:v>
                  </c:pt>
                  <c:pt idx="2">
                    <c:v>Computer &amp; Math</c:v>
                  </c:pt>
                  <c:pt idx="3">
                    <c:v>Personal Care</c:v>
                  </c:pt>
                  <c:pt idx="4">
                    <c:v>Office &amp; Admin</c:v>
                  </c:pt>
                  <c:pt idx="5">
                    <c:v>Transportation</c:v>
                  </c:pt>
                  <c:pt idx="6">
                    <c:v>Production</c:v>
                  </c:pt>
                  <c:pt idx="7">
                    <c:v>Management</c:v>
                  </c:pt>
                  <c:pt idx="8">
                    <c:v>Construction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15.6</c:v>
                </c:pt>
                <c:pt idx="1">
                  <c:v>17.7</c:v>
                </c:pt>
                <c:pt idx="2">
                  <c:v>2</c:v>
                </c:pt>
                <c:pt idx="3">
                  <c:v>14</c:v>
                </c:pt>
                <c:pt idx="4">
                  <c:v>-3.6</c:v>
                </c:pt>
                <c:pt idx="5">
                  <c:v>-5.7</c:v>
                </c:pt>
                <c:pt idx="6">
                  <c:v>-12.7</c:v>
                </c:pt>
                <c:pt idx="7">
                  <c:v>-6.1</c:v>
                </c:pt>
                <c:pt idx="8">
                  <c:v>-19.2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Baby Boomers %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North Dakota</c:v>
                  </c:pt>
                  <c:pt idx="1">
                    <c:v>Texas</c:v>
                  </c:pt>
                  <c:pt idx="2">
                    <c:v>South Dakota</c:v>
                  </c:pt>
                  <c:pt idx="3">
                    <c:v>Utah</c:v>
                  </c:pt>
                  <c:pt idx="4">
                    <c:v>Wyoming</c:v>
                  </c:pt>
                  <c:pt idx="5">
                    <c:v>Colorado</c:v>
                  </c:pt>
                  <c:pt idx="6">
                    <c:v>Alaska</c:v>
                  </c:pt>
                  <c:pt idx="7">
                    <c:v>Nebraska</c:v>
                  </c:pt>
                  <c:pt idx="8">
                    <c:v>Minnesota</c:v>
                  </c:pt>
                  <c:pt idx="9">
                    <c:v>Massachusetts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27.95</c:v>
                </c:pt>
                <c:pt idx="1">
                  <c:v>17.76</c:v>
                </c:pt>
                <c:pt idx="2">
                  <c:v>15.62</c:v>
                </c:pt>
                <c:pt idx="3">
                  <c:v>15.54</c:v>
                </c:pt>
                <c:pt idx="4">
                  <c:v>14.38</c:v>
                </c:pt>
                <c:pt idx="5">
                  <c:v>13.58</c:v>
                </c:pt>
                <c:pt idx="6">
                  <c:v>13.37</c:v>
                </c:pt>
                <c:pt idx="7">
                  <c:v>13.05</c:v>
                </c:pt>
                <c:pt idx="8">
                  <c:v>12.78</c:v>
                </c:pt>
                <c:pt idx="9">
                  <c:v>12.25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Millennials %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North Dakota</c:v>
                  </c:pt>
                  <c:pt idx="1">
                    <c:v>Texas</c:v>
                  </c:pt>
                  <c:pt idx="2">
                    <c:v>South Dakota</c:v>
                  </c:pt>
                  <c:pt idx="3">
                    <c:v>Utah</c:v>
                  </c:pt>
                  <c:pt idx="4">
                    <c:v>Wyoming</c:v>
                  </c:pt>
                  <c:pt idx="5">
                    <c:v>Colorado</c:v>
                  </c:pt>
                  <c:pt idx="6">
                    <c:v>Alaska</c:v>
                  </c:pt>
                  <c:pt idx="7">
                    <c:v>Nebraska</c:v>
                  </c:pt>
                  <c:pt idx="8">
                    <c:v>Minnesota</c:v>
                  </c:pt>
                  <c:pt idx="9">
                    <c:v>Massachusetts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33.54</c:v>
                </c:pt>
                <c:pt idx="1">
                  <c:v>8.21</c:v>
                </c:pt>
                <c:pt idx="2">
                  <c:v>5.73</c:v>
                </c:pt>
                <c:pt idx="3">
                  <c:v>1.75</c:v>
                </c:pt>
                <c:pt idx="4">
                  <c:v>3.83</c:v>
                </c:pt>
                <c:pt idx="5">
                  <c:v>3.11</c:v>
                </c:pt>
                <c:pt idx="6">
                  <c:v>7.91</c:v>
                </c:pt>
                <c:pt idx="7">
                  <c:v>1.68</c:v>
                </c:pt>
                <c:pt idx="8">
                  <c:v>3.44</c:v>
                </c:pt>
                <c:pt idx="9">
                  <c:v>3.78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BD5E1"/>
                </a:solidFill>
              </a:rPr>
              <a:t>DATA ANALYTICS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5120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Millennial vs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Baby Boomer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Employment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34290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BD5E1"/>
                </a:solidFill>
              </a:rPr>
              <a:t>2007 – 2013 | United States Labor Market Analysis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BD5E1"/>
                </a:solidFill>
              </a:rPr>
              <a:t>Across 51 States, 366 Metro Areas &amp; 23 Industry Sectors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46520" y="502920"/>
            <a:ext cx="2423160" cy="1325880"/>
          </a:xfrm>
          <a:prstGeom prst="rect">
            <a:avLst/>
          </a:prstGeom>
          <a:solidFill>
            <a:srgbClr val="162032"/>
          </a:solidFill>
          <a:ln w="12700">
            <a:solidFill>
              <a:srgbClr val="2433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46520" y="502920"/>
            <a:ext cx="54864" cy="1325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11112" y="594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</a:rPr>
              <a:t>40.8M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611112" y="119786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Millennial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Jobs 2007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46520" y="1984248"/>
            <a:ext cx="2423160" cy="1325880"/>
          </a:xfrm>
          <a:prstGeom prst="rect">
            <a:avLst/>
          </a:prstGeom>
          <a:solidFill>
            <a:srgbClr val="162032"/>
          </a:solidFill>
          <a:ln w="12700">
            <a:solidFill>
              <a:srgbClr val="2433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1984248"/>
            <a:ext cx="54864" cy="1325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07568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82F6"/>
                </a:solidFill>
              </a:rPr>
              <a:t>21.4M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611112" y="26791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Baby Boomer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Jobs 2007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46520" y="3465576"/>
            <a:ext cx="2423160" cy="1325880"/>
          </a:xfrm>
          <a:prstGeom prst="rect">
            <a:avLst/>
          </a:prstGeom>
          <a:solidFill>
            <a:srgbClr val="162032"/>
          </a:solidFill>
          <a:ln w="12700">
            <a:solidFill>
              <a:srgbClr val="2433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3465576"/>
            <a:ext cx="54864" cy="1325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11112" y="3557016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</a:rPr>
              <a:t>2007–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</a:rPr>
              <a:t>2013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611112" y="4160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Data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Period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Source: EMSI Employment Data  |  EMSI_MillenialsvsBabyBoomers Dataset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EXECUTIVE SUMMARY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0" y="0"/>
            <a:ext cx="1280160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68680"/>
            <a:ext cx="201168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515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</a:rPr>
              <a:t>+1.95M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161848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D1B2A"/>
                </a:solidFill>
              </a:rPr>
              <a:t>Baby Boomer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D1B2A"/>
                </a:solidFill>
              </a:rPr>
              <a:t>New Jobs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0116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+9.7% growth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41448" y="86868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41448" y="868680"/>
            <a:ext cx="20116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78608" y="10515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+110K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78608" y="161848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D1B2A"/>
                </a:solidFill>
              </a:rPr>
              <a:t>Millennial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D1B2A"/>
                </a:solidFill>
              </a:rPr>
              <a:t>New Jobs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78608" y="20116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+0.3% growth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08576" y="86868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08576" y="868680"/>
            <a:ext cx="201168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45736" y="10515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</a:rPr>
              <a:t>51/51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745736" y="161848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D1B2A"/>
                </a:solidFill>
              </a:rPr>
              <a:t>States w/ BB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D1B2A"/>
                </a:solidFill>
              </a:rPr>
              <a:t>Job Growth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45736" y="20116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vs 23/51 for Millennials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75704" y="86868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75704" y="868680"/>
            <a:ext cx="201168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12864" y="10515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2626"/>
                </a:solidFill>
              </a:rPr>
              <a:t>17.5pp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912864" y="161848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D1B2A"/>
                </a:solidFill>
              </a:rPr>
              <a:t>Largest Sector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D1B2A"/>
                </a:solidFill>
              </a:rPr>
              <a:t>Gap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12864" y="20116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Production sector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395728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395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" y="2395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Boomers dominated the recovery:  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" y="2651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With +1.95M net new jobs (+9.7%), Baby Boomers captured almost all employment growth post-recession, benefiting from experience premiums in healthcare and management.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044952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044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" y="3044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Millennials absorbed the recession shock:  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" y="33009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Millennials lost 478K construction jobs and 317K production jobs. Only +110K net jobs nationally despite a 40.8M starting base.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3694176"/>
            <a:ext cx="292608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694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8368" y="369417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North Dakota was the standout for both:  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8368" y="39502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Oil boom drove +28% (BB) and +34% (ML) growth. Nevada was the worst state for both generations.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4343400"/>
            <a:ext cx="292608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343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8368" y="4343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Healthcare surged for both generations:  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58368" y="45994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Registered Nurses, Home Health Aides, and Personal Care Aides topped growth lists — signaling long-term structural demand independent of recession cycles.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NATIONAL EMPLOYMENT TOTALS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0" y="0"/>
            <a:ext cx="1280160" cy="6583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023360" cy="402336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22960"/>
            <a:ext cx="402336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</a:rPr>
              <a:t>BABY BOOMERS</a:t>
            </a:r>
            <a:endParaRPr lang="en-US" sz="1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65760" y="1280160"/>
          <a:ext cx="38404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+1,945,665 jobs  (+9.7%)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3977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CBD5E1"/>
                </a:solidFill>
              </a:rPr>
              <a:t>All 23 broad sectors grew. Only Construction declined (−3%).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CBD5E1"/>
                </a:solidFill>
              </a:rPr>
              <a:t>Strongest: Healthcare Support +26.5% | Office &amp; Admin +346K absolute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846320" y="822960"/>
            <a:ext cx="4023360" cy="4023360"/>
          </a:xfrm>
          <a:prstGeom prst="rect">
            <a:avLst/>
          </a:prstGeom>
          <a:solidFill>
            <a:srgbClr val="0D2218"/>
          </a:solidFill>
          <a:ln w="12700">
            <a:solidFill>
              <a:srgbClr val="0F403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46320" y="822960"/>
            <a:ext cx="402336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B981"/>
                </a:solidFill>
              </a:rPr>
              <a:t>MILLENNIALS</a:t>
            </a:r>
            <a:endParaRPr lang="en-US" sz="1300" dirty="0"/>
          </a:p>
        </p:txBody>
      </p:sp>
      <p:graphicFrame>
        <p:nvGraphicFramePr>
          <p:cNvPr id="15" name="Chart 1" descr=""/>
          <p:cNvGraphicFramePr/>
          <p:nvPr/>
        </p:nvGraphicFramePr>
        <p:xfrm>
          <a:off x="4846320" y="1280160"/>
          <a:ext cx="38404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 12"/>
          <p:cNvSpPr/>
          <p:nvPr/>
        </p:nvSpPr>
        <p:spPr>
          <a:xfrm>
            <a:off x="502920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+109,919 jobs  (+0.3%)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029200" y="3977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CBD5E1"/>
                </a:solidFill>
              </a:rPr>
              <a:t>10 of 23 sectors declined. Construction lost −478K, Production −317K.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CBD5E1"/>
                </a:solidFill>
              </a:rPr>
              <a:t>Strongest: Food Prep +644K | Healthcare Support +191K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SECTOR-BY-SECTOR COMPARISON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0" y="0"/>
            <a:ext cx="1280160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822960"/>
          <a:ext cx="85953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TOP GROWING OCCUPATIONS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0" y="0"/>
            <a:ext cx="128016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B82F6"/>
                </a:solidFill>
              </a:rPr>
              <a:t>BABY BOOMERS — Top 5 by Absolute Job Growth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4023360" cy="566928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Registered Nurses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1463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+111,017 jobs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91840" y="12618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B82F6"/>
                </a:solidFill>
              </a:rPr>
              <a:t>+25.3%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74320" y="1847088"/>
            <a:ext cx="4023360" cy="566928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9110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Personal Care Aides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1396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+78,831 jobs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0" y="19385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B82F6"/>
                </a:solidFill>
              </a:rPr>
              <a:t>+43.6%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74320" y="2523744"/>
            <a:ext cx="4023360" cy="566928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587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Retail Salespersons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" y="28163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+62,691 jobs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91840" y="261518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B82F6"/>
                </a:solidFill>
              </a:rPr>
              <a:t>+11%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74320" y="3200400"/>
            <a:ext cx="4023360" cy="566928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2644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Office Clerks, General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8912" y="34930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+59,747 jobs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91840" y="3291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B82F6"/>
                </a:solidFill>
              </a:rPr>
              <a:t>+11.8%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274320" y="3877056"/>
            <a:ext cx="4023360" cy="566928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94106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Cashiers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8912" y="41696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+57,791 jobs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91840" y="396849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B82F6"/>
                </a:solidFill>
              </a:rPr>
              <a:t>+21.4%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846320" y="777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0B981"/>
                </a:solidFill>
              </a:rPr>
              <a:t>MILLENNIALS — Top 5 by Absolute Job Growth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1170432"/>
            <a:ext cx="4023360" cy="566928"/>
          </a:xfrm>
          <a:prstGeom prst="rect">
            <a:avLst/>
          </a:prstGeom>
          <a:solidFill>
            <a:srgbClr val="0D2218"/>
          </a:solidFill>
          <a:ln w="12700">
            <a:solidFill>
              <a:srgbClr val="0F40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10912" y="12344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Fast Food / Food Prep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10912" y="1463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+204,545 jobs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818120" y="12618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+27.8%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846320" y="1847088"/>
            <a:ext cx="4023360" cy="566928"/>
          </a:xfrm>
          <a:prstGeom prst="rect">
            <a:avLst/>
          </a:prstGeom>
          <a:solidFill>
            <a:srgbClr val="0D2218"/>
          </a:solidFill>
          <a:ln w="12700">
            <a:solidFill>
              <a:srgbClr val="0F40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10912" y="19110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Waiters &amp; Waitresses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10912" y="21396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+149,992 jobs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818120" y="19385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+15.8%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4846320" y="2523744"/>
            <a:ext cx="4023360" cy="566928"/>
          </a:xfrm>
          <a:prstGeom prst="rect">
            <a:avLst/>
          </a:prstGeom>
          <a:solidFill>
            <a:srgbClr val="0D2218"/>
          </a:solidFill>
          <a:ln w="12700">
            <a:solidFill>
              <a:srgbClr val="0F403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10912" y="2587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Cashiers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10912" y="28163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+127,939 jobs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818120" y="261518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+14%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4846320" y="3200400"/>
            <a:ext cx="4023360" cy="566928"/>
          </a:xfrm>
          <a:prstGeom prst="rect">
            <a:avLst/>
          </a:prstGeom>
          <a:solidFill>
            <a:srgbClr val="0D2218"/>
          </a:solidFill>
          <a:ln w="12700">
            <a:solidFill>
              <a:srgbClr val="0F40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10912" y="32644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Personal Care Aides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10912" y="34930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+98,461 jobs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818120" y="3291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+43.8%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4846320" y="3877056"/>
            <a:ext cx="4023360" cy="566928"/>
          </a:xfrm>
          <a:prstGeom prst="rect">
            <a:avLst/>
          </a:prstGeom>
          <a:solidFill>
            <a:srgbClr val="0D2218"/>
          </a:solidFill>
          <a:ln w="12700">
            <a:solidFill>
              <a:srgbClr val="0F403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10912" y="394106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Home Health Aides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10912" y="41696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+77,619 jobs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818120" y="396849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+38.2%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STATE-LEVEL ANALYSIS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0" y="0"/>
            <a:ext cx="1280160" cy="6583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777240"/>
          <a:ext cx="51206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868680"/>
            <a:ext cx="3291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▲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89320" y="923544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D1B2A"/>
                </a:solidFill>
              </a:rPr>
              <a:t>North Dakota led both generations — driven by the Bakken oil boom, adding 16.5K BB and 36.6K ML jobs (+34% millennials).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577840" y="1828800"/>
            <a:ext cx="3291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▼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989320" y="1883664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D1B2A"/>
                </a:solidFill>
              </a:rPr>
              <a:t>Nevada was the only state where Baby Boomers lost jobs (−4,526). Both generations suffered from post-housing-bubble contraction.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577840" y="2788920"/>
            <a:ext cx="3291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◆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989320" y="2843784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D1B2A"/>
                </a:solidFill>
              </a:rPr>
              <a:t>Baby Boomers grew in all 51 states. Millennials declined in 28 of 51 — primarily Sun Belt states hit by construction collapse.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577840" y="3749040"/>
            <a:ext cx="3291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0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●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989320" y="3803904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D1B2A"/>
                </a:solidFill>
              </a:rPr>
              <a:t>Texas added 265K BB jobs (+17.8%) and 269K ML jobs (+8.2%) — the largest absolute gains for both groups.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METROPOLITAN AREA ANALYSIS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0" y="0"/>
            <a:ext cx="1280160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BD5E1"/>
                </a:solidFill>
              </a:rPr>
              <a:t>TOP 5 METRO AREAS — Both Generations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52144"/>
            <a:ext cx="8595360" cy="521208"/>
          </a:xfrm>
          <a:prstGeom prst="rect">
            <a:avLst/>
          </a:prstGeom>
          <a:solidFill>
            <a:srgbClr val="0E1C2E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Midland, TX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49040" y="1261872"/>
            <a:ext cx="20116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9040" y="1261872"/>
            <a:ext cx="1758611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1280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BB +43.71%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49040" y="1261872"/>
            <a:ext cx="2011680" cy="274320"/>
          </a:xfrm>
          <a:prstGeom prst="rect">
            <a:avLst/>
          </a:prstGeom>
          <a:solidFill>
            <a:srgbClr val="0F4030"/>
          </a:solidFill>
          <a:ln w="12700">
            <a:solidFill>
              <a:srgbClr val="0F40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49040" y="1261872"/>
            <a:ext cx="1553822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12618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ML +38.62%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69480" y="12893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Oil &amp; Energy Boom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1764792"/>
            <a:ext cx="8595360" cy="521208"/>
          </a:xfrm>
          <a:prstGeom prst="rect">
            <a:avLst/>
          </a:prstGeom>
          <a:solidFill>
            <a:srgbClr val="0E1C2E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8928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Odessa, TX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49040" y="1874520"/>
            <a:ext cx="20116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0" y="1874520"/>
            <a:ext cx="1396911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0" y="18928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BB +34.72%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49040" y="1874520"/>
            <a:ext cx="2011680" cy="274320"/>
          </a:xfrm>
          <a:prstGeom prst="rect">
            <a:avLst/>
          </a:prstGeom>
          <a:solidFill>
            <a:srgbClr val="0F4030"/>
          </a:solidFill>
          <a:ln w="12700">
            <a:solidFill>
              <a:srgbClr val="0F40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49040" y="1874520"/>
            <a:ext cx="1397715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18745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ML +34.74%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69480" y="190195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Oil &amp; Energy Boom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2377440"/>
            <a:ext cx="8595360" cy="521208"/>
          </a:xfrm>
          <a:prstGeom prst="rect">
            <a:avLst/>
          </a:prstGeom>
          <a:solidFill>
            <a:srgbClr val="0E1C2E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5054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Bismarck, ND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749040" y="2487168"/>
            <a:ext cx="20116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49040" y="2487168"/>
            <a:ext cx="1204996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0" y="25054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BB +29.95%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749040" y="2487168"/>
            <a:ext cx="2011680" cy="274320"/>
          </a:xfrm>
          <a:prstGeom prst="rect">
            <a:avLst/>
          </a:prstGeom>
          <a:solidFill>
            <a:srgbClr val="0F4030"/>
          </a:solidFill>
          <a:ln w="12700">
            <a:solidFill>
              <a:srgbClr val="0F403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49040" y="2487168"/>
            <a:ext cx="734666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52160" y="24871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ML +18.26%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69480" y="251460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Oil &amp; Energy Boom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2990088"/>
            <a:ext cx="8595360" cy="521208"/>
          </a:xfrm>
          <a:prstGeom prst="rect">
            <a:avLst/>
          </a:prstGeom>
          <a:solidFill>
            <a:srgbClr val="0E1C2E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118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Fargo, ND-MN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749040" y="3099816"/>
            <a:ext cx="20116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49040" y="3099816"/>
            <a:ext cx="1015094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52160" y="31181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BB +25.23%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749040" y="3099816"/>
            <a:ext cx="2011680" cy="274320"/>
          </a:xfrm>
          <a:prstGeom prst="rect">
            <a:avLst/>
          </a:prstGeom>
          <a:solidFill>
            <a:srgbClr val="0F4030"/>
          </a:solidFill>
          <a:ln w="12700">
            <a:solidFill>
              <a:srgbClr val="0F403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49040" y="3099816"/>
            <a:ext cx="57534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52160" y="30998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ML +14.3%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69480" y="312724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Oil &amp; Energy Boom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74320" y="3602736"/>
            <a:ext cx="8595360" cy="521208"/>
          </a:xfrm>
          <a:prstGeom prst="rect">
            <a:avLst/>
          </a:prstGeom>
          <a:solidFill>
            <a:srgbClr val="0E1C2E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7307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Houston-Sugar Land, TX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749040" y="3712464"/>
            <a:ext cx="20116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749040" y="3712464"/>
            <a:ext cx="921349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52160" y="37307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BB +22.9%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269480" y="373989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Oil &amp; Energy Boom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74320" y="4215384"/>
            <a:ext cx="8595360" cy="521208"/>
          </a:xfrm>
          <a:prstGeom prst="rect">
            <a:avLst/>
          </a:prstGeom>
          <a:solidFill>
            <a:srgbClr val="0E1C2E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3434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Columbus, IN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749040" y="4343400"/>
            <a:ext cx="2011680" cy="274320"/>
          </a:xfrm>
          <a:prstGeom prst="rect">
            <a:avLst/>
          </a:prstGeom>
          <a:solidFill>
            <a:srgbClr val="0F4030"/>
          </a:solidFill>
          <a:ln w="12700">
            <a:solidFill>
              <a:srgbClr val="0F403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749040" y="4343400"/>
            <a:ext cx="588618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52160" y="43434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ML +14.63%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269480" y="435254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Oil &amp; Energy Boom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74320" y="4681728"/>
            <a:ext cx="8595360" cy="320040"/>
          </a:xfrm>
          <a:prstGeom prst="rect">
            <a:avLst/>
          </a:prstGeom>
          <a:solidFill>
            <a:srgbClr val="2D0A0A"/>
          </a:solidFill>
          <a:ln w="12700">
            <a:solidFill>
              <a:srgbClr val="5A1A1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</a:rPr>
              <a:t>▼  Worst MSAs: Dalton GA (ML −23.4%), Carson City NV (BB −9.9%), Prescott AZ (both negative) — all linked to housing/manufacturing decline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KEY DIVERGENCES — SAME SECTOR, OPPOSITE OUTCOMES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863840" y="0"/>
            <a:ext cx="1280160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08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758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</a:rPr>
              <a:t>SECTOR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0" y="758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</a:rPr>
              <a:t>BABY BOOMER %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937760" y="758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</a:rPr>
              <a:t>MILLENNIAL 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0" y="758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</a:rPr>
              <a:t>GAP (pp)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024128"/>
            <a:ext cx="8595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097280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252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Production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0" y="1225296"/>
            <a:ext cx="1645920" cy="31089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12252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+4.8%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37760" y="1225296"/>
            <a:ext cx="1645920" cy="310896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2252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-12.7%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0" y="12252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17.5 pp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1755648"/>
            <a:ext cx="8595360" cy="56692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9110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Transportation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0" y="1883664"/>
            <a:ext cx="1645920" cy="31089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0" y="188366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+9.6%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37760" y="1883664"/>
            <a:ext cx="1645920" cy="310896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88366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-5.7%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32320" y="188366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15.3 pp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4320" y="2414016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5694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Construction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0" y="2542032"/>
            <a:ext cx="1645920" cy="310896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0" y="254203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-3%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937760" y="2542032"/>
            <a:ext cx="1645920" cy="310896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254203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-19.2%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32320" y="254203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16.2 pp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74320" y="3072384"/>
            <a:ext cx="8595360" cy="56692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2278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Office &amp; Admin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0" y="3200400"/>
            <a:ext cx="1645920" cy="31089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0" y="32004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+9.7%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937760" y="3200400"/>
            <a:ext cx="1645920" cy="310896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32004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-3.6%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132320" y="32004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13.3 pp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74320" y="3730752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3886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Management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0" y="3858768"/>
            <a:ext cx="1645920" cy="31089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0" y="38587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+2.8%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937760" y="3858768"/>
            <a:ext cx="1645920" cy="310896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0" y="38587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-6.1%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132320" y="38587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8.9 pp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274320" y="4389120"/>
            <a:ext cx="8595360" cy="566928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45445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Computer &amp; Math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743200" y="4517136"/>
            <a:ext cx="1645920" cy="31089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0" y="451713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+19.8%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4937760" y="4517136"/>
            <a:ext cx="1645920" cy="310896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37760" y="451713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+2%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132320" y="451713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17.8 pp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CONCLUSIONS &amp; INSIGHTS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0" y="0"/>
            <a:ext cx="1280160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09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206240" cy="1920240"/>
          </a:xfrm>
          <a:prstGeom prst="rect">
            <a:avLst/>
          </a:prstGeom>
          <a:solidFill>
            <a:srgbClr val="0E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Experience Premium Prevailed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92224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Baby Boomers leveraged decades of experience to retain and grow employment even post-recession. The 9.7% growth vs 0.3% Millennial growth reveals how recessions disproportionately displace entry-level workers.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852928"/>
            <a:ext cx="4206240" cy="1920240"/>
          </a:xfrm>
          <a:prstGeom prst="rect">
            <a:avLst/>
          </a:prstGeom>
          <a:solidFill>
            <a:srgbClr val="0E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962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11480" y="35112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Structural Shift Away from Blue-Collar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8404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Construction (−19% ML) and Production (−12.7% ML) account for most Millennial losses. These were sectors with high Millennial participation pre-2008, suggesting lasting structural displacement.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804672"/>
            <a:ext cx="4206240" cy="1920240"/>
          </a:xfrm>
          <a:prstGeom prst="rect">
            <a:avLst/>
          </a:prstGeom>
          <a:solidFill>
            <a:srgbClr val="0E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9204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Healthcare Is the Cross-Generational Winner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792224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Registered Nurses, Home Health Aides, and Personal Care Aides appear in top-growth lists for BOTH generations — confirming healthcare as recession-proof and growing irrespective of age demographics.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2852928"/>
            <a:ext cx="4206240" cy="1920240"/>
          </a:xfrm>
          <a:prstGeom prst="rect">
            <a:avLst/>
          </a:prstGeom>
          <a:solidFill>
            <a:srgbClr val="0E1C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962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92040" y="35112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Geography Mattered More for Millennials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38404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Millennials in North Dakota, Texas, and Alaska bucked national trends. The energy sector created the only robust Millennial job markets, while Sun Belt states saw severe contractions.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2E"/>
                </a:solidFill>
              </a:rPr>
              <a:t>POWER BI DASHBOARD — IMPLEMENTATION GUIDE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Replicate this analysis in Power BI with 4 report pages: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777240"/>
          </a:xfrm>
          <a:prstGeom prst="rect">
            <a:avLst/>
          </a:prstGeom>
          <a:solidFill>
            <a:srgbClr val="2A2A3E"/>
          </a:solidFill>
          <a:ln w="12700">
            <a:solidFill>
              <a:srgbClr val="3A3A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1005840" cy="77724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E2E"/>
                </a:solidFill>
              </a:rPr>
              <a:t>Page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1732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811"/>
                </a:solidFill>
              </a:rPr>
              <a:t>National Overview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17320" y="15727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Visuals: KPI Cards (4) · Clustered Column Chart (2007 vs 2013) · Donut Chart (Gen share)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084832"/>
            <a:ext cx="8595360" cy="777240"/>
          </a:xfrm>
          <a:prstGeom prst="rect">
            <a:avLst/>
          </a:prstGeom>
          <a:solidFill>
            <a:srgbClr val="2A2A3E"/>
          </a:solidFill>
          <a:ln w="12700">
            <a:solidFill>
              <a:srgbClr val="3A3A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084832"/>
            <a:ext cx="1005840" cy="77724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084832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E2E"/>
                </a:solidFill>
              </a:rPr>
              <a:t>Page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17320" y="2176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811"/>
                </a:solidFill>
              </a:rPr>
              <a:t>Sector Deep Dive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17320" y="246888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Visuals: Clustered Bar Chart (BB vs ML % change) · Matrix table · Slicer: Generation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980944"/>
            <a:ext cx="8595360" cy="777240"/>
          </a:xfrm>
          <a:prstGeom prst="rect">
            <a:avLst/>
          </a:prstGeom>
          <a:solidFill>
            <a:srgbClr val="2A2A3E"/>
          </a:solidFill>
          <a:ln w="12700">
            <a:solidFill>
              <a:srgbClr val="3A3A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980944"/>
            <a:ext cx="1005840" cy="77724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980944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E2E"/>
                </a:solidFill>
              </a:rPr>
              <a:t>Page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17320" y="30723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811"/>
                </a:solidFill>
              </a:rPr>
              <a:t>State Heatmap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17320" y="336499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Visuals: Filled Map (% job change) · Bar chart top/bottom 10 · State slicer · Gen toggle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877056"/>
            <a:ext cx="8595360" cy="777240"/>
          </a:xfrm>
          <a:prstGeom prst="rect">
            <a:avLst/>
          </a:prstGeom>
          <a:solidFill>
            <a:srgbClr val="2A2A3E"/>
          </a:solidFill>
          <a:ln w="12700">
            <a:solidFill>
              <a:srgbClr val="3A3A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877056"/>
            <a:ext cx="1005840" cy="777240"/>
          </a:xfrm>
          <a:prstGeom prst="rect">
            <a:avLst/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877056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E2E"/>
                </a:solidFill>
              </a:rPr>
              <a:t>Page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17320" y="39684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811"/>
                </a:solidFill>
              </a:rPr>
              <a:t>Occupation Rankings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17320" y="4261104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Visuals: Stacked Bar (growth by occ) · Table: Top 15 growers/decliners · Drill-through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Data Source: EMSI_MillenialsvsBabyBoomers.xlsx  |  Sheets: National 2-digit, National 5-digit, States, Metropolitan Areas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Millennial vs Baby Boomer Employment 2007-2013</dc:title>
  <dc:subject>PptxGenJS Presentation</dc:subject>
  <dc:creator>PptxGenJS</dc:creator>
  <cp:lastModifiedBy>PptxGenJS</cp:lastModifiedBy>
  <cp:revision>1</cp:revision>
  <dcterms:created xsi:type="dcterms:W3CDTF">2026-03-16T14:41:43Z</dcterms:created>
  <dcterms:modified xsi:type="dcterms:W3CDTF">2026-03-16T14:41:43Z</dcterms:modified>
</cp:coreProperties>
</file>